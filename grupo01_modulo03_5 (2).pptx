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95D12C-3E70-4017-8AE0-A3027F54F9FA}">
  <a:tblStyle styleId="{F795D12C-3E70-4017-8AE0-A3027F54F9F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74d1a8ccd57c1b8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h74d1a8ccd57c1b8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Capa, não é sorteada. As imagens são prints da página no PC do Kleber: em cima a cena como abre; embaixo depois de girar a plataforma 30°, fixar o bumbo e mover a plataforma 40 cm.</a:t>
            </a:r>
            <a:endParaRPr/>
          </a:p>
        </p:txBody>
      </p:sp>
      <p:sp>
        <p:nvSpPr>
          <p:cNvPr id="14" name="Google Shape;14;h74d1a8ccd57c1b8_3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h74d1a8ccd57c1b8_3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h74d1a8ccd57c1b8_3_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Fontes: docs/especificacao.md seções 1, 3, 4 e 6; dominio.ts (BATERIA e contarEstadoFinal). A contagem do estado final não é escrita à mão: sai do papel de cada peça (instrumento, ferragem ou baqueta). Alternativa descartada: o estado final do Módulo 01, "17 peças fixadas e todas soando" (está no registro de mudanças da especificação). Ele não podia ser conferido: pedais, estantes, banco e baquetas não soam, e as baquetas acompanham a mão, nunca são fixadas. Por isso a contagem passou a sair do papel de cada peça. A escala real, com o kit reduzido sobre uma mesa como alternativa descartada, fica no slide 3. A página mostra a mesma tabela do domínio logo ao abrir.</a:t>
            </a:r>
            <a:endParaRPr/>
          </a:p>
        </p:txBody>
      </p:sp>
      <p:sp>
        <p:nvSpPr>
          <p:cNvPr id="29" name="Google Shape;29;h74d1a8ccd57c1b8_3_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74d1a8ccd57c1b8_3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h74d1a8ccd57c1b8_3_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Fontes: regimes.ts (REGIMES) e especificação seção 9. O trecho é a entrada do AR inteira, como está no arquivo; os outros dois regimes têm os mesmos oito campos. O modo janela não depende de WebXR: ele só precisa de WebGL 2, por isso roda em qualquer máquina, inclusive no iPhone. Se perguntarem sobre o viewer da janela: o modo janela não abre sessão inline da WebXR, ele desenha direto com WebGL, como no projeto do professor. O viewer é o espaço que a declaração reserva para esse regime.</a:t>
            </a:r>
            <a:endParaRPr/>
          </a:p>
        </p:txBody>
      </p:sp>
      <p:sp>
        <p:nvSpPr>
          <p:cNvPr id="57" name="Google Shape;57;h74d1a8ccd57c1b8_3_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74d1a8ccd57c1b8_7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h74d1a8ccd57c1b8_7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Fontes: verificacao.ts (suporteImersivo), sonda.ts (sondarEmSessao), recursos.ts (estadoDoRecurso). As linhas com // marcam o trecho da sonda.ts que ficou de fora e a passagem para a recursos.ts, onde o estado de cada recurso é decidido. O código devolve sim, nao ou desconhecido, e a página mostra essas respostas como Entra, Não entra e Sem resposta. Coluna do PC: medicao_2026-09-29_1125_pc-kleber-sem-emulador.txt (Chrome 153 no Windows, com a extensão do emulador desligada; a sonda classificou o aparelho como somente-janela, porque VR e AR responderam que não). Coluna do celular: medicao_2026-09-29_1513_celular-verga-android.txt (celular Android do Verga, Chrome). A página mostra a resposta de VR na tabela dos regimes, mas o arquivo salvo não guarda essa linha, por isso ela aparece como não registrada. O iPhone (medicao_2026-09-29_0959_iphone-kleber-2.txt, classe sem-api, o navegador não tem WebXR) saiu do slide, mas continua no README. Coluna do emulador: medicao_2026-09-28_2110_pc-kleber-com-emulador-2.txt (Quest Pro simulado; sessão immersive-ar, 90 poses, nenhuma emulada, alpha-blend; local-floor, bounded-floor, hit-test, anchors, plane-detection e hand-tracking concedidos). Por que a sonda abre uma sessão de verdade: recursos concedidos, espaços de referência e composição do fundo só existem dentro da sessão. No celular Android do Verga (medicao_2026-09-29_1513_celular-verga-android.txt) a sonda abriu uma sessão immersive-ar de verdade: classe aparelho-de-mao-com-camera, interação screen-space, composição alpha-blend, seis graus de liberdade; local-floor, hit-test, anchors e plane-detection concedidos; bounded-floor e hand-tracking não concedidos, que é o caso negado da recursos.ts. Dos 90 quadros observados, 77 vieram sem pose. Falta testar: visor real e PC do laboratório. Se perguntarem por que "não concedido" conta como negado: é a definição da seção 1.6 do material do Módulo 02. Negado quando a lista veio sem o nome, indeterminado quando a lista não veio. A WebXR não diz o motivo da recusa, por isso a página escreve "motivo não informado".</a:t>
            </a:r>
            <a:endParaRPr/>
          </a:p>
        </p:txBody>
      </p:sp>
      <p:sp>
        <p:nvSpPr>
          <p:cNvPr id="73" name="Google Shape;73;h74d1a8ccd57c1b8_7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74d1a8ccd57c1b8_3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h74d1a8ccd57c1b8_3_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Fontes: cena.ts (montarCena, montarChimbal, ajustarAlturaDoChimbal, redimensionarPlataforma) e hierarquia.ts (descreverArvore, que imprime a árvore na página). Na árvore, o nome na frente é o que a gente fala; entre parênteses está o nome que a página imprime. As duas luzes são filhas diretas da sala: na árvore da página elas aparecem como duas linhas, sem um grupo. As linhas com // ... marcam trechos do arquivo que não entraram no slide. O valor exato do prato muda um pouco com a animação de abrir e fechar, que mexe na posição local dele; a diferença de 10 cm vem só da haste. Alternativa descartada: pratos como filhos diretos do chimbal, movendo a haste e os dois pratos a cada ajuste, o que obriga a manter três posições sincronizadas. Se perguntarem se é assim numa bateria de verdade: é uma simplificação. No chimbal real o prato de baixo fica apoiado no tubo e só o de cima vai preso à haste que o pedal puxa. Aqui a haste é a parte do suporte que sobe quando se regula a altura, por isso leva os dois pratos; abrir e fechar mexe só no prato de cima, como no real. Os números do chimbal estão em docs/medicoes/troca-de-pai-e-chimbal.md.</a:t>
            </a:r>
            <a:endParaRPr/>
          </a:p>
        </p:txBody>
      </p:sp>
      <p:sp>
        <p:nvSpPr>
          <p:cNvPr id="94" name="Google Shape;94;h74d1a8ccd57c1b8_3_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74d1a8ccd57c1b8_3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h74d1a8ccd57c1b8_3_1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Fontes: hierarquia.ts (reparentar; antes da conta ela recusa ciclo, pai com escala zero e pai com escala não uniforme) e main.ts (botão Fixar o bumbo na plataforma). As linhas com // ... marcam trechos do arquivo que não entraram no slide (as recusas e a leitura da rotação de antes e de depois, usada no desvio de orientação). Números copiados do diário da página: girar 30°, fixar, mover 40 cm. Estão registrados em docs/medicoes/troca-de-pai-e-chimbal.md. O desvio exato impresso é 1.9e-17 m e 0.0e+0 graus. A rotação local do bumbo fica em -30° porque a plataforma está girada +30°: as duas se anulam e ele continua virado para o mesmo lado no mundo. Se perguntarem por que girar antes: com a plataforma parada, qualquer soma de coordenadas também acertaria; girada, o desvio zero prova que a rotação foi composta. Se perguntarem por que o bumbo fica fora da plataforma: hoje fixar só troca o pai, a peça não é levada até a plataforma; levar e encaixar é dos próximos módulos.</a:t>
            </a:r>
            <a:endParaRPr/>
          </a:p>
        </p:txBody>
      </p:sp>
      <p:sp>
        <p:nvSpPr>
          <p:cNvPr id="147" name="Google Shape;147;h74d1a8ccd57c1b8_3_1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74d1a8ccd57c1b8_3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h74d1a8ccd57c1b8_3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Fontes: relogio.ts (avancar, TETO_DE_SALTO_S de 0,1 s), laco.ts (ordem do quadro: ajustar, relógio, passos, desenhar, medir), orcamento.ts (janela de 120 quadros, 5 de aquecimento; TETO_JANELA_MS de 16,7 ms fica declarado, mas o adotado é o do visor), painel.ts e main.ts (chimbal abre e fecha 1 vez por segundo pelo tempo decorrido). As medições da tabela são do PC do Kleber e do celular Android do Verga, e nenhum dos dois é a máquina do laboratório. A máquina de referência da especificação é o PC mais simples do laboratório, com vídeo integrado, e ainda não tivemos acesso a ele; como o PC do Kleber é forte, o número dele é o melhor caso. Medições em docs/medicoes. PC: medicao_2026-09-29_1125_pc-kleber-sem-emulador.txt (Chrome 153 no Windows, sem a extensão do emulador; médio 0,10 ms, pior 0,30 ms, 0 acima do teto, quadro a cada 4,24 ms, 25 chamadas e 1.800 triângulos). As duas medições anteriores do PC (medicao_2026-09-28_2108_pc-kleber-com-emulador-1.txt e medicao_2026-09-28_2110_pc-kleber-com-emulador-2.txt) foram feitas com o emulador ligado e deram quase o mesmo custo (médio 0,11 ms, pior 0,20 e 0,40 ms, quadro a cada 4,17 ms). Celular Android do Verga: medicao_2026-09-29_1513_celular-verga-android.txt (Chrome no Android; médio 1,02 ms, pior 9,60 ms, 0 acima do teto, quadro a cada 16,67 ms; 27 chamadas e 1.880 triângulos porque a linha amarela estava ligada). Com 16,67 ms contra 4,24 ms, contar quadros faria o chimbal fechar quase 4 vezes mais rápido no PC. O iPhone saiu da tabela, mas continua medido. iPhone: medicao_2026-09-29_0958_iphone-kleber-1.txt (médio 1,66 ms, pior 18 ms, 9 acima do teto, quadro a cada 20,4 ms) e medicao_2026-09-29_0959_iphone-kleber-2.txt (médio 1,23 ms, pior 18 ms, 8 acima do teto, quadro a cada 17,4 ms; 27 chamadas e 1.880 triângulos porque a linha amarela estava ligada). O Safari arredonda o relógio ao milissegundo, por isso o pior custo sai redondo, 18 ms. Os picos acima do teto ainda precisam de investigação; um suspeito é o redesenho do cartaz. Abaixo de 10 quadros por segundo o teto de salto corta cada intervalo em 0,1 s e a cena anda mais devagar que o tempo real. Falta testar: PC do laboratório e visor real.</a:t>
            </a:r>
            <a:endParaRPr/>
          </a:p>
        </p:txBody>
      </p:sp>
      <p:sp>
        <p:nvSpPr>
          <p:cNvPr id="165" name="Google Shape;165;h74d1a8ccd57c1b8_3_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github.com/kleber112233/projeto-realidade-virtual-e-aumentada" TargetMode="External"/><Relationship Id="rId6" Type="http://schemas.openxmlformats.org/officeDocument/2006/relationships/hyperlink" Target="https://github.com/kleber112233/projeto-realidade-virtual-e-aumentad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ena como abre: peças soltas no chão em volta da plataforma e o cartaz de custo do quadro.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0"/>
            <a:ext cx="6202375" cy="34948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epois de girar a plataforma 30°, fixar o bumbo e mover a plataforma 40 cm: o bumbo foi junto.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9320" y="3511296"/>
            <a:ext cx="6202375" cy="334670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/>
          <p:nvPr/>
        </p:nvSpPr>
        <p:spPr>
          <a:xfrm>
            <a:off x="502920" y="54864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Realidade Virtual e Aumentada, Módulo 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02920" y="960120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4000"/>
              <a:buFont typeface="Arial"/>
              <a:buNone/>
            </a:pPr>
            <a:r>
              <a:rPr b="1" i="0" lang="pt-BR" sz="4000" u="none" cap="none" strike="noStrike">
                <a:solidFill>
                  <a:srgbClr val="EEF0F2"/>
                </a:solidFill>
                <a:latin typeface="Arial"/>
                <a:ea typeface="Arial"/>
                <a:cs typeface="Arial"/>
                <a:sym typeface="Arial"/>
              </a:rPr>
              <a:t>Bateria acústica em RV e RA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02920" y="2423160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D4DA"/>
              </a:buClr>
              <a:buSzPts val="1600"/>
              <a:buFont typeface="Calibri"/>
              <a:buNone/>
            </a:pPr>
            <a:r>
              <a:rPr b="0" i="0" lang="pt-BR" sz="16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Uma plataforma onde a pessoa monta, peça por peça, um kit de bateria acústica em tamanho real, ajustando posição e ângulo de cada peça até o kit poder ser tocado.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02920" y="3931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GRUPO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502920" y="422452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600"/>
              <a:buFont typeface="Calibri"/>
              <a:buNone/>
            </a:pPr>
            <a:r>
              <a:rPr b="0" i="0" lang="pt-BR" sz="16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Kleber, Isabela, Pedro Santilli e Gabriel Verga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502920" y="48920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REPOSITÓRIO, TAG MODULO-03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>
            <a:hlinkClick r:id="rId5"/>
          </p:cNvPr>
          <p:cNvSpPr txBox="1"/>
          <p:nvPr/>
        </p:nvSpPr>
        <p:spPr>
          <a:xfrm>
            <a:off x="502920" y="5184648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sng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6"/>
              </a:rPr>
              <a:t>github.com/kleber112233/projeto-realidade-virtual-e-aumentada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502920" y="580644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TypeScript, Three.js, WebXR e Vite. Neste módulo só o modo janela desenha a cena, no PC e no celular.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EEF0F2"/>
                </a:solidFill>
                <a:latin typeface="Arial"/>
                <a:ea typeface="Arial"/>
                <a:cs typeface="Arial"/>
                <a:sym typeface="Arial"/>
              </a:rPr>
              <a:t>A cena e a tarefa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8945575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Passos 1, 2 e 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10774375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2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02920" y="1188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A TAREFA EM UMA FRASE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02920" y="1463040"/>
            <a:ext cx="5577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600"/>
              <a:buFont typeface="Calibri"/>
              <a:buNone/>
            </a:pPr>
            <a:r>
              <a:rPr b="0" i="0" lang="pt-BR" sz="16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Montar o kit sobre a plataforma, fixando cada peça obrigatória e ajustando altura e ângulo até ele poder ser tocado.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502920" y="23317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ESTADO QUE CONCLUI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02920" y="2651760"/>
            <a:ext cx="1764792" cy="1051560"/>
          </a:xfrm>
          <a:prstGeom prst="roundRect">
            <a:avLst>
              <a:gd fmla="val 6957" name="adj"/>
            </a:avLst>
          </a:prstGeom>
          <a:solidFill>
            <a:srgbClr val="20242B"/>
          </a:solidFill>
          <a:ln cap="flat" cmpd="sng" w="12700">
            <a:solidFill>
              <a:srgbClr val="20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640080" y="267919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rgbClr val="D4A44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640080" y="3154680"/>
            <a:ext cx="153619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peças fixadas a até 8 cm da superfície da plataforma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395728" y="2651760"/>
            <a:ext cx="1764792" cy="1051560"/>
          </a:xfrm>
          <a:prstGeom prst="roundRect">
            <a:avLst>
              <a:gd fmla="val 6957" name="adj"/>
            </a:avLst>
          </a:prstGeom>
          <a:solidFill>
            <a:srgbClr val="20242B"/>
          </a:solidFill>
          <a:ln cap="flat" cmpd="sng" w="12700">
            <a:solidFill>
              <a:srgbClr val="20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2532888" y="267919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rgbClr val="D4A44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2532888" y="3154680"/>
            <a:ext cx="153619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instrumentos soando ao golpe da baqueta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288536" y="2651760"/>
            <a:ext cx="1764792" cy="1051560"/>
          </a:xfrm>
          <a:prstGeom prst="roundRect">
            <a:avLst>
              <a:gd fmla="val 6957" name="adj"/>
            </a:avLst>
          </a:prstGeom>
          <a:solidFill>
            <a:srgbClr val="20242B"/>
          </a:solidFill>
          <a:ln cap="flat" cmpd="sng" w="12700">
            <a:solidFill>
              <a:srgbClr val="20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4425696" y="2679192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3000"/>
              <a:buFont typeface="Arial"/>
              <a:buNone/>
            </a:pPr>
            <a:r>
              <a:rPr b="1" i="0" lang="pt-BR" sz="3000" u="none" cap="none" strike="noStrike">
                <a:solidFill>
                  <a:srgbClr val="D4A44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4425696" y="3154680"/>
            <a:ext cx="1536192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50"/>
              <a:buFont typeface="Calibri"/>
              <a:buNone/>
            </a:pPr>
            <a:r>
              <a:rPr b="0" i="0" lang="pt-BR" sz="105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baquetas ficam fora da conta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" y="3840480"/>
            <a:ext cx="5715000" cy="1051560"/>
          </a:xfrm>
          <a:prstGeom prst="roundRect">
            <a:avLst>
              <a:gd fmla="val 6154" name="adj"/>
            </a:avLst>
          </a:prstGeom>
          <a:solidFill>
            <a:srgbClr val="1B1E24"/>
          </a:solidFill>
          <a:ln cap="flat" cmpd="sng" w="12700">
            <a:solidFill>
              <a:srgbClr val="1B1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 txBox="1"/>
          <p:nvPr/>
        </p:nvSpPr>
        <p:spPr>
          <a:xfrm>
            <a:off x="685800" y="3950208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webxr-app/src/bateria/dominio/dominio.ts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685800" y="4279392"/>
            <a:ext cx="5440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800"/>
              <a:buFont typeface="Courier New"/>
              <a:buNone/>
            </a:pPr>
            <a:r>
              <a:rPr b="0" i="0" lang="pt-BR" sz="8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export function contarEstadoFinal(dominio: Dominio): ContagemDoEstadoFinal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800"/>
              <a:buFont typeface="Courier New"/>
              <a:buNone/>
            </a:pPr>
            <a:r>
              <a:rPr b="0" i="0" lang="pt-BR" sz="8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const aFixar: number = dominio.pecas.filter((p) =&gt; p.papel !== 'baqueta').length;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800"/>
              <a:buFont typeface="Courier New"/>
              <a:buNone/>
            </a:pPr>
            <a:r>
              <a:rPr b="0" i="0" lang="pt-BR" sz="8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const aSoar: number = dominio.pecas.filter((p) =&gt; p.papel === 'instrumento').length;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800"/>
              <a:buFont typeface="Courier New"/>
              <a:buNone/>
            </a:pPr>
            <a:r>
              <a:rPr b="0" i="0" lang="pt-BR" sz="8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return { aFixar, aSoar, foraDoEstadoFinal: dominio.pecas.length - aFixar };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800"/>
              <a:buFont typeface="Courier New"/>
              <a:buNone/>
            </a:pPr>
            <a:r>
              <a:rPr b="0" i="0" lang="pt-BR" sz="8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502920" y="502920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4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POR QUÊ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502920" y="5349240"/>
            <a:ext cx="55778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Por que esta cena: </a:t>
            </a:r>
            <a:r>
              <a:rPr b="0" i="0" lang="pt-BR" sz="11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o som de cada peça sai de onde a pessoa a deixou, lugar que só existe depois da montagem. O custo que aceitamos é esse áudio 3D.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Armadilha: </a:t>
            </a:r>
            <a:r>
              <a:rPr b="0" i="0" lang="pt-BR" sz="11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querer áudio posicional completo antes de medir quanto ele custa. Vamos medir cedo, com poucas peças.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Descartado: </a:t>
            </a:r>
            <a:r>
              <a:rPr b="0" i="0" lang="pt-BR" sz="11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o estado final antigo, "17 peças fixadas e todas soando". Pedais, estantes e banco não soam, e baqueta não se fixa: não dava para conferir.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OBJETOS E ESCALAS EM METROS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" name="Google Shape;52;p4"/>
          <p:cNvGraphicFramePr/>
          <p:nvPr/>
        </p:nvGraphicFramePr>
        <p:xfrm>
          <a:off x="640080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{F795D12C-3E70-4017-8AE0-A3027F54F9FA}</a:tableStyleId>
              </a:tblPr>
              <a:tblGrid>
                <a:gridCol w="2011675"/>
                <a:gridCol w="2011675"/>
                <a:gridCol w="1261875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Peça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Medida (m)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Ajuste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Plataforma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1,50 de lado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 a 2,5 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Bumbo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0,56 x 0,56 x 0,40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Caixa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0,35 x 0,14 x 0,35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Chimbal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0,35 x 0,80 x 0,35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 a 90 cm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Tom 1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0,25 x 0,20 x 0,25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Tom 2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0,30 x 0,22 x 0,30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Tom de chão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0,40 x 0,48 x 0,40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 a 50 cm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Pratos (ataque, condução)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0,40 e 0,50 de diâmetro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0° a 45°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Estante de prato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0,50 x 1,20 x 0,50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 a 145 cm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Estante de caixa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0,45 x 0,65 x 0,45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 a 75 cm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Banco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0,35 x 0,50 x 0,35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 a 55 cm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Pedais de bumbo (2)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0,10 x 0,08 x 0,30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Baquetas (2)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0,015 x 0,015 x 0,40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</a:tbl>
          </a:graphicData>
        </a:graphic>
      </p:graphicFrame>
      <p:sp>
        <p:nvSpPr>
          <p:cNvPr id="53" name="Google Shape;53;p4"/>
          <p:cNvSpPr txBox="1"/>
          <p:nvPr/>
        </p:nvSpPr>
        <p:spPr>
          <a:xfrm>
            <a:off x="6400800" y="5257800"/>
            <a:ext cx="52852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Medidas na ordem largura, altura e profundidade. 15 peças e a plataforma, em caixas e cilindros. Origem de cada peça no ponto de apoio, Y para cima. Mesmos números do dominio.ts e da seção 4 da especificação.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 txBox="1"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EEF0F2"/>
                </a:solidFill>
                <a:latin typeface="Arial"/>
                <a:ea typeface="Arial"/>
                <a:cs typeface="Arial"/>
                <a:sym typeface="Arial"/>
              </a:rPr>
              <a:t>Os três regimes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8945575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Passo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0774375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3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" name="Google Shape;62;p5"/>
          <p:cNvGraphicFramePr/>
          <p:nvPr/>
        </p:nvGraphicFramePr>
        <p:xfrm>
          <a:off x="502920" y="11887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{F795D12C-3E70-4017-8AE0-A3027F54F9FA}</a:tableStyleId>
              </a:tblPr>
              <a:tblGrid>
                <a:gridCol w="1600200"/>
                <a:gridCol w="1783075"/>
                <a:gridCol w="1828800"/>
                <a:gridCol w="1828800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Janela (PC)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Visor (VR)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Celular (AR)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Trata o mundo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exibe a cena numa janela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substitui o mundo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preserva o mundo e põe a cena por cima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Espaço de referência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viewer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local-floor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local-floor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Rastreia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nada do corpo; a câmera obedece ao mouse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cabeça e dois controles, seis graus de liberdade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pose do celular e superfícies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Registrado contra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origem da cena, no centro da plataforma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chão físico onde a pessoa está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 chão real achado por hit-test, com âncora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Composição esperada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opaque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opaque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alpha-blend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pt-BR" sz="115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Terá de provar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 o kit monta só com mouse e teclado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escala do corpo, alcance de 90 cm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50"/>
                        <a:buFont typeface="Calibri"/>
                        <a:buNone/>
                      </a:pPr>
                      <a:r>
                        <a:rPr lang="pt-BR" sz="115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que a plataforma não desliza quando a pessoa anda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</a:tbl>
          </a:graphicData>
        </a:graphic>
      </p:graphicFrame>
      <p:sp>
        <p:nvSpPr>
          <p:cNvPr id="63" name="Google Shape;63;p5"/>
          <p:cNvSpPr/>
          <p:nvPr/>
        </p:nvSpPr>
        <p:spPr>
          <a:xfrm>
            <a:off x="7818120" y="1188720"/>
            <a:ext cx="3867912" cy="3657600"/>
          </a:xfrm>
          <a:prstGeom prst="roundRect">
            <a:avLst>
              <a:gd fmla="val 2963" name="adj"/>
            </a:avLst>
          </a:prstGeom>
          <a:solidFill>
            <a:srgbClr val="1B1E24"/>
          </a:solidFill>
          <a:ln cap="flat" cmpd="sng" w="12700">
            <a:solidFill>
              <a:srgbClr val="1B1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8001000" y="1298448"/>
            <a:ext cx="3502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webxr-app/src/bateria/modes/regimes.ts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 txBox="1"/>
          <p:nvPr/>
        </p:nvSpPr>
        <p:spPr>
          <a:xfrm>
            <a:off x="8001000" y="1627632"/>
            <a:ext cx="3502152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id: 'immersive-ar',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nome: 'Celular (AR)',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tratamentoDoMundo: 'preserva',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espacoDeReferencia: 'local-floor',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764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rastreia: 'a pose do celular e as superfícies que ele encontra',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registroContra: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3528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'o chão real encontrado por teste de impacto, com uma âncora que mantém a plataforma no lugar enquanto a pessoa anda',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composicaoEsperada: 'alpha-blend',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6764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provaAdiante: 'que a plataforma não desliza nem flutua quando a pessoa caminha',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},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502920" y="4114800"/>
            <a:ext cx="7040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4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POR QUÊ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502920" y="4434840"/>
            <a:ext cx="7040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Decisão: </a:t>
            </a:r>
            <a:r>
              <a:rPr b="0" i="0" lang="pt-BR" sz="12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AR em tamanho real, no chão, em vez de um kit reduzido sobre uma mesa. O problema central é de onde o som sai, e ele só existe com as distâncias reais.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200"/>
              <a:buFont typeface="Calibri"/>
              <a:buNone/>
            </a:pPr>
            <a:r>
              <a:rPr b="1" i="0" lang="pt-BR" sz="12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Descartado: </a:t>
            </a:r>
            <a:r>
              <a:rPr b="0" i="0" lang="pt-BR" sz="12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um "espaço de superfície" para o AR. A WebXR não tem esse espaço: a origem fica no chão e a superfície vem do hit-test.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818120" y="5029200"/>
            <a:ext cx="3867912" cy="1188720"/>
          </a:xfrm>
          <a:prstGeom prst="roundRect">
            <a:avLst>
              <a:gd fmla="val 7619" name="adj"/>
            </a:avLst>
          </a:prstGeom>
          <a:solidFill>
            <a:srgbClr val="20242B"/>
          </a:solidFill>
          <a:ln cap="flat" cmpd="sng" w="12700">
            <a:solidFill>
              <a:srgbClr val="20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8001000" y="5120640"/>
            <a:ext cx="35021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Ainda é promessa: </a:t>
            </a:r>
            <a:r>
              <a:rPr b="0" i="0" lang="pt-BR" sz="11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VR e AR existem na declaração e na sonda, mas ainda não desenham a cena. A tabela da página sai de REGIMES, com a resposta do aparelho ao lado.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EEF0F2"/>
                </a:solidFill>
                <a:latin typeface="Arial"/>
                <a:ea typeface="Arial"/>
                <a:cs typeface="Arial"/>
                <a:sym typeface="Arial"/>
              </a:rPr>
              <a:t>O que o aparelho oferece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8945575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Passos 5 e 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10774375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4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02920" y="1188720"/>
            <a:ext cx="5577840" cy="1508760"/>
          </a:xfrm>
          <a:prstGeom prst="roundRect">
            <a:avLst>
              <a:gd fmla="val 4848" name="adj"/>
            </a:avLst>
          </a:prstGeom>
          <a:solidFill>
            <a:srgbClr val="1B1E24"/>
          </a:solidFill>
          <a:ln cap="flat" cmpd="sng" w="12700">
            <a:solidFill>
              <a:srgbClr val="1B1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685800" y="129844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webxr-app/src/bateria/modes/verificacao.ts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685800" y="1627632"/>
            <a:ext cx="52120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try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return (await xr.isSessionSupported(id)) ? 'sim' : 'nao';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} catch {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return 'desconhecido';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02920" y="2834640"/>
            <a:ext cx="5577840" cy="2011680"/>
          </a:xfrm>
          <a:prstGeom prst="roundRect">
            <a:avLst>
              <a:gd fmla="val 3636" name="adj"/>
            </a:avLst>
          </a:prstGeom>
          <a:solidFill>
            <a:srgbClr val="1B1E24"/>
          </a:solidFill>
          <a:ln cap="flat" cmpd="sng" w="12700">
            <a:solidFill>
              <a:srgbClr val="1B1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685800" y="2944368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webxr-app/src/bateria/devices/sonda.ts e devices/recursos.ts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685800" y="3273552"/>
            <a:ext cx="52120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sessao = await xr.requestSession(modo,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optionalFeatures: RECURSOS_CONSULTADOS.map((r) =&gt; r.nome),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});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... trata a recusa, ouve o fim da sessão e abre a camada mínima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const concedidos: readonly string[] | undefined = sessao.enabledFeatures;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recursos.ts, dentro de estadoDoRecurso(nome, concedidos):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if (concedidos === undefined) {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  return 'indeterminado';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00"/>
              <a:buFont typeface="Courier New"/>
              <a:buNone/>
            </a:pPr>
            <a:r>
              <a:rPr b="0" i="0" lang="pt-BR" sz="90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return concedidos.includes(nome) ? 'concedido' : 'negado';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502920" y="4956048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4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POR QUÊ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502920" y="5276088"/>
            <a:ext cx="5577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Ausente não é negado: </a:t>
            </a:r>
            <a:r>
              <a:rPr b="0" i="0" lang="pt-BR" sz="11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negado é quando a lista veio e o nome não está nela; quando a lista nem vem, o estado é indeterminado.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Se assumíssemos: </a:t>
            </a:r>
            <a:r>
              <a:rPr b="0" i="0" lang="pt-BR" sz="11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sem hit-test, a plataforma seria posicionada num ponto qualquer da imagem da câmera, e nada avisaria o erro.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Descartado: </a:t>
            </a:r>
            <a:r>
              <a:rPr b="0" i="0" lang="pt-BR" sz="11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presumir pela classe do aparelho ("celular sempre tem hit-test").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O MESMO ENDEREÇO EM CLASSES DIFERENTES DE APARELHO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7" name="Google Shape;87;p6"/>
          <p:cNvGraphicFramePr/>
          <p:nvPr/>
        </p:nvGraphicFramePr>
        <p:xfrm>
          <a:off x="6400800" y="15087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{F795D12C-3E70-4017-8AE0-A3027F54F9FA}</a:tableStyleId>
              </a:tblPr>
              <a:tblGrid>
                <a:gridCol w="1170425"/>
                <a:gridCol w="1371600"/>
                <a:gridCol w="1371600"/>
                <a:gridCol w="137160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PC, Windows e Chrome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Celular Verga - Android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 com emulador (simulado)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Janela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Visor (VR)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entra: o aparelho respondeu que não suporta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ficou registrado no arquivo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Celular (AR)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entra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Sessão da sonda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nenhuma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immersive-ar, seis graus, alpha-blend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immersive-ar, seis graus, alpha-blend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pt-BR" sz="11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Recursos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não se aplica, sem sessão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de 6 concedidos, 2 negados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100"/>
                        <a:buFont typeface="Calibri"/>
                        <a:buNone/>
                      </a:pPr>
                      <a:r>
                        <a:rPr lang="pt-BR" sz="11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de 6 concedidos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</a:tbl>
          </a:graphicData>
        </a:graphic>
      </p:graphicFrame>
      <p:sp>
        <p:nvSpPr>
          <p:cNvPr id="88" name="Google Shape;88;p6"/>
          <p:cNvSpPr txBox="1"/>
          <p:nvPr/>
        </p:nvSpPr>
        <p:spPr>
          <a:xfrm>
            <a:off x="6400800" y="4343400"/>
            <a:ext cx="52852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O emulador é a extensão Immersive Web Emulator simulando um Meta Quest Pro. Serve para testar a sonda, mas não conta como aparelho testado: ele libera todos os recursos.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6400800" y="5120640"/>
            <a:ext cx="5285232" cy="1097280"/>
          </a:xfrm>
          <a:prstGeom prst="roundRect">
            <a:avLst>
              <a:gd fmla="val 6667" name="adj"/>
            </a:avLst>
          </a:prstGeom>
          <a:solidFill>
            <a:srgbClr val="20242B"/>
          </a:solidFill>
          <a:ln cap="flat" cmpd="sng" w="12700">
            <a:solidFill>
              <a:srgbClr val="20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6583680" y="5212080"/>
            <a:ext cx="4937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Só recursos opcionais. </a:t>
            </a:r>
            <a:r>
              <a:rPr b="0" i="0" lang="pt-BR" sz="13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Um recurso obrigatório que faltasse recusaria a sessão inteira, e a sonda perderia todas as outras respostas.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EEF0F2"/>
                </a:solidFill>
                <a:latin typeface="Arial"/>
                <a:ea typeface="Arial"/>
                <a:cs typeface="Arial"/>
                <a:sym typeface="Arial"/>
              </a:rPr>
              <a:t>A cena como árvore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 txBox="1"/>
          <p:nvPr/>
        </p:nvSpPr>
        <p:spPr>
          <a:xfrm>
            <a:off x="8945575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Passo 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10774375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5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02920" y="1188720"/>
            <a:ext cx="5394960" cy="5074920"/>
          </a:xfrm>
          <a:prstGeom prst="roundRect">
            <a:avLst>
              <a:gd fmla="val 1441" name="adj"/>
            </a:avLst>
          </a:prstGeom>
          <a:solidFill>
            <a:srgbClr val="20242B"/>
          </a:solidFill>
          <a:ln cap="flat" cmpd="sng" w="12700">
            <a:solidFill>
              <a:srgbClr val="20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777240" y="1371600"/>
            <a:ext cx="49377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EF0F2"/>
                </a:solidFill>
                <a:latin typeface="Courier New"/>
                <a:ea typeface="Courier New"/>
                <a:cs typeface="Courier New"/>
                <a:sym typeface="Courier New"/>
              </a:rPr>
              <a:t>sala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7"/>
          <p:cNvCxnSpPr/>
          <p:nvPr/>
        </p:nvCxnSpPr>
        <p:spPr>
          <a:xfrm>
            <a:off x="868680" y="167335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7"/>
          <p:cNvCxnSpPr/>
          <p:nvPr/>
        </p:nvCxnSpPr>
        <p:spPr>
          <a:xfrm>
            <a:off x="868680" y="189280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7"/>
          <p:cNvSpPr txBox="1"/>
          <p:nvPr/>
        </p:nvSpPr>
        <p:spPr>
          <a:xfrm>
            <a:off x="1161288" y="1737360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EF0F2"/>
                </a:solidFill>
                <a:latin typeface="Courier New"/>
                <a:ea typeface="Courier New"/>
                <a:cs typeface="Courier New"/>
                <a:sym typeface="Courier New"/>
              </a:rPr>
              <a:t>luz-ambiente e luz-direcional</a:t>
            </a:r>
            <a:r>
              <a:rPr b="0" i="0" lang="pt-BR" sz="950" u="none" cap="none" strike="noStrike">
                <a:solidFill>
                  <a:srgbClr val="8A93A0"/>
                </a:solidFill>
                <a:latin typeface="Courier New"/>
                <a:ea typeface="Courier New"/>
                <a:cs typeface="Courier New"/>
                <a:sym typeface="Courier New"/>
              </a:rPr>
              <a:t> (sem grupo, filhas da sala)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7"/>
          <p:cNvCxnSpPr/>
          <p:nvPr/>
        </p:nvCxnSpPr>
        <p:spPr>
          <a:xfrm>
            <a:off x="868680" y="1673352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" name="Google Shape;105;p7"/>
          <p:cNvCxnSpPr/>
          <p:nvPr/>
        </p:nvCxnSpPr>
        <p:spPr>
          <a:xfrm>
            <a:off x="868680" y="225856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7"/>
          <p:cNvSpPr txBox="1"/>
          <p:nvPr/>
        </p:nvSpPr>
        <p:spPr>
          <a:xfrm>
            <a:off x="1161288" y="2103120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EF0F2"/>
                </a:solidFill>
                <a:latin typeface="Courier New"/>
                <a:ea typeface="Courier New"/>
                <a:cs typeface="Courier New"/>
                <a:sym typeface="Courier New"/>
              </a:rPr>
              <a:t>chao (peças soltas)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7"/>
          <p:cNvCxnSpPr/>
          <p:nvPr/>
        </p:nvCxnSpPr>
        <p:spPr>
          <a:xfrm>
            <a:off x="1252728" y="240487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" name="Google Shape;108;p7"/>
          <p:cNvCxnSpPr/>
          <p:nvPr/>
        </p:nvCxnSpPr>
        <p:spPr>
          <a:xfrm>
            <a:off x="1252728" y="262432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7"/>
          <p:cNvSpPr txBox="1"/>
          <p:nvPr/>
        </p:nvSpPr>
        <p:spPr>
          <a:xfrm>
            <a:off x="1545336" y="2468880"/>
            <a:ext cx="4169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EF0F2"/>
                </a:solidFill>
                <a:latin typeface="Courier New"/>
                <a:ea typeface="Courier New"/>
                <a:cs typeface="Courier New"/>
                <a:sym typeface="Courier New"/>
              </a:rPr>
              <a:t>bumbo, caixa, tons, pratos, estantes, banco, pedais, baquetas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7"/>
          <p:cNvCxnSpPr/>
          <p:nvPr/>
        </p:nvCxnSpPr>
        <p:spPr>
          <a:xfrm>
            <a:off x="1252728" y="2404872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7"/>
          <p:cNvCxnSpPr/>
          <p:nvPr/>
        </p:nvCxnSpPr>
        <p:spPr>
          <a:xfrm>
            <a:off x="1252728" y="299008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7"/>
          <p:cNvSpPr txBox="1"/>
          <p:nvPr/>
        </p:nvSpPr>
        <p:spPr>
          <a:xfrm>
            <a:off x="1545336" y="2834640"/>
            <a:ext cx="4169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EF0F2"/>
                </a:solidFill>
                <a:latin typeface="Courier New"/>
                <a:ea typeface="Courier New"/>
                <a:cs typeface="Courier New"/>
                <a:sym typeface="Courier New"/>
              </a:rPr>
              <a:t>chimbal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7"/>
          <p:cNvCxnSpPr/>
          <p:nvPr/>
        </p:nvCxnSpPr>
        <p:spPr>
          <a:xfrm>
            <a:off x="1636776" y="313639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7"/>
          <p:cNvCxnSpPr/>
          <p:nvPr/>
        </p:nvCxnSpPr>
        <p:spPr>
          <a:xfrm>
            <a:off x="1636776" y="335584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7"/>
          <p:cNvSpPr txBox="1"/>
          <p:nvPr/>
        </p:nvSpPr>
        <p:spPr>
          <a:xfrm>
            <a:off x="1929384" y="3200400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ourier New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chimbal-haste (sobe e desce)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7"/>
          <p:cNvCxnSpPr/>
          <p:nvPr/>
        </p:nvCxnSpPr>
        <p:spPr>
          <a:xfrm>
            <a:off x="2020824" y="350215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7"/>
          <p:cNvCxnSpPr/>
          <p:nvPr/>
        </p:nvCxnSpPr>
        <p:spPr>
          <a:xfrm>
            <a:off x="2020824" y="372160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7"/>
          <p:cNvSpPr txBox="1"/>
          <p:nvPr/>
        </p:nvSpPr>
        <p:spPr>
          <a:xfrm>
            <a:off x="2313432" y="3566160"/>
            <a:ext cx="34015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ourier New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prato de baixo</a:t>
            </a:r>
            <a:r>
              <a:rPr b="0" i="0" lang="pt-BR" sz="950" u="none" cap="none" strike="noStrike">
                <a:solidFill>
                  <a:srgbClr val="8A93A0"/>
                </a:solidFill>
                <a:latin typeface="Courier New"/>
                <a:ea typeface="Courier New"/>
                <a:cs typeface="Courier New"/>
                <a:sym typeface="Courier New"/>
              </a:rPr>
              <a:t> (chimbal-prato-de-baixo)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7"/>
          <p:cNvCxnSpPr/>
          <p:nvPr/>
        </p:nvCxnSpPr>
        <p:spPr>
          <a:xfrm>
            <a:off x="2020824" y="3502152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7"/>
          <p:cNvCxnSpPr/>
          <p:nvPr/>
        </p:nvCxnSpPr>
        <p:spPr>
          <a:xfrm>
            <a:off x="2020824" y="408736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7"/>
          <p:cNvSpPr txBox="1"/>
          <p:nvPr/>
        </p:nvSpPr>
        <p:spPr>
          <a:xfrm>
            <a:off x="2313432" y="3931920"/>
            <a:ext cx="340156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ourier New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prato de cima</a:t>
            </a:r>
            <a:r>
              <a:rPr b="0" i="0" lang="pt-BR" sz="950" u="none" cap="none" strike="noStrike">
                <a:solidFill>
                  <a:srgbClr val="8A93A0"/>
                </a:solidFill>
                <a:latin typeface="Courier New"/>
                <a:ea typeface="Courier New"/>
                <a:cs typeface="Courier New"/>
                <a:sym typeface="Courier New"/>
              </a:rPr>
              <a:t> (chimbal-prato-de-cima)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7"/>
          <p:cNvCxnSpPr/>
          <p:nvPr/>
        </p:nvCxnSpPr>
        <p:spPr>
          <a:xfrm>
            <a:off x="868680" y="1673352"/>
            <a:ext cx="0" cy="277977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7"/>
          <p:cNvCxnSpPr/>
          <p:nvPr/>
        </p:nvCxnSpPr>
        <p:spPr>
          <a:xfrm>
            <a:off x="868680" y="445312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7"/>
          <p:cNvSpPr txBox="1"/>
          <p:nvPr/>
        </p:nvSpPr>
        <p:spPr>
          <a:xfrm>
            <a:off x="1161288" y="4297680"/>
            <a:ext cx="4553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ourier New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plataforma (peças fixadas)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7"/>
          <p:cNvCxnSpPr/>
          <p:nvPr/>
        </p:nvCxnSpPr>
        <p:spPr>
          <a:xfrm>
            <a:off x="1252728" y="459943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7"/>
          <p:cNvCxnSpPr/>
          <p:nvPr/>
        </p:nvCxnSpPr>
        <p:spPr>
          <a:xfrm>
            <a:off x="1252728" y="481888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7"/>
          <p:cNvSpPr txBox="1"/>
          <p:nvPr/>
        </p:nvSpPr>
        <p:spPr>
          <a:xfrm>
            <a:off x="1545336" y="4663440"/>
            <a:ext cx="4169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EF0F2"/>
                </a:solidFill>
                <a:latin typeface="Courier New"/>
                <a:ea typeface="Courier New"/>
                <a:cs typeface="Courier New"/>
                <a:sym typeface="Courier New"/>
              </a:rPr>
              <a:t>piso-da-plataforma (só ele muda de tamanho)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7"/>
          <p:cNvCxnSpPr/>
          <p:nvPr/>
        </p:nvCxnSpPr>
        <p:spPr>
          <a:xfrm>
            <a:off x="1252728" y="4599432"/>
            <a:ext cx="0" cy="58521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7"/>
          <p:cNvCxnSpPr/>
          <p:nvPr/>
        </p:nvCxnSpPr>
        <p:spPr>
          <a:xfrm>
            <a:off x="1252728" y="518464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7"/>
          <p:cNvSpPr txBox="1"/>
          <p:nvPr/>
        </p:nvSpPr>
        <p:spPr>
          <a:xfrm>
            <a:off x="1545336" y="5029200"/>
            <a:ext cx="4169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EF0F2"/>
                </a:solidFill>
                <a:latin typeface="Courier New"/>
                <a:ea typeface="Courier New"/>
                <a:cs typeface="Courier New"/>
                <a:sym typeface="Courier New"/>
              </a:rPr>
              <a:t>suporte-do-painel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1636776" y="5330952"/>
            <a:ext cx="0" cy="21945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7"/>
          <p:cNvCxnSpPr/>
          <p:nvPr/>
        </p:nvCxnSpPr>
        <p:spPr>
          <a:xfrm>
            <a:off x="1636776" y="555040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7"/>
          <p:cNvSpPr txBox="1"/>
          <p:nvPr/>
        </p:nvSpPr>
        <p:spPr>
          <a:xfrm>
            <a:off x="1929384" y="5394960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00"/>
              <a:buFont typeface="Courier New"/>
              <a:buNone/>
            </a:pPr>
            <a:r>
              <a:rPr b="0" i="0" lang="pt-BR" sz="1100" u="none" cap="none" strike="noStrike">
                <a:solidFill>
                  <a:srgbClr val="EEF0F2"/>
                </a:solidFill>
                <a:latin typeface="Courier New"/>
                <a:ea typeface="Courier New"/>
                <a:cs typeface="Courier New"/>
                <a:sym typeface="Courier New"/>
              </a:rPr>
              <a:t>painel de custo</a:t>
            </a:r>
            <a:r>
              <a:rPr b="0" i="0" lang="pt-BR" sz="950" u="none" cap="none" strike="noStrike">
                <a:solidFill>
                  <a:srgbClr val="8A93A0"/>
                </a:solidFill>
                <a:latin typeface="Courier New"/>
                <a:ea typeface="Courier New"/>
                <a:cs typeface="Courier New"/>
                <a:sym typeface="Courier New"/>
              </a:rPr>
              <a:t> (painel)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4" name="Google Shape;134;p7"/>
          <p:cNvCxnSpPr/>
          <p:nvPr/>
        </p:nvCxnSpPr>
        <p:spPr>
          <a:xfrm>
            <a:off x="1252728" y="4599432"/>
            <a:ext cx="0" cy="1316736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7"/>
          <p:cNvCxnSpPr/>
          <p:nvPr/>
        </p:nvCxnSpPr>
        <p:spPr>
          <a:xfrm>
            <a:off x="1252728" y="5916168"/>
            <a:ext cx="274320" cy="0"/>
          </a:xfrm>
          <a:prstGeom prst="straightConnector1">
            <a:avLst/>
          </a:prstGeom>
          <a:noFill/>
          <a:ln cap="flat" cmpd="sng" w="12700">
            <a:solidFill>
              <a:srgbClr val="3A40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7"/>
          <p:cNvSpPr txBox="1"/>
          <p:nvPr/>
        </p:nvSpPr>
        <p:spPr>
          <a:xfrm>
            <a:off x="1545336" y="5760720"/>
            <a:ext cx="416966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ourier New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bumbo, depois de fixado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172200" y="1188720"/>
            <a:ext cx="5513832" cy="1874520"/>
          </a:xfrm>
          <a:prstGeom prst="roundRect">
            <a:avLst>
              <a:gd fmla="val 3902" name="adj"/>
            </a:avLst>
          </a:prstGeom>
          <a:solidFill>
            <a:srgbClr val="1B1E24"/>
          </a:solidFill>
          <a:ln cap="flat" cmpd="sng" w="12700">
            <a:solidFill>
              <a:srgbClr val="1B1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6355080" y="1298448"/>
            <a:ext cx="5148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webxr-app/src/bateria/core/cena.ts (montarChimbal)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6355080" y="1627632"/>
            <a:ext cx="5148072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50"/>
              <a:buFont typeface="Courier New"/>
              <a:buNone/>
            </a:pPr>
            <a:r>
              <a:rPr b="0" i="0" lang="pt-BR" sz="11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const haste: Group = new Group();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50"/>
              <a:buFont typeface="Courier New"/>
              <a:buNone/>
            </a:pPr>
            <a:r>
              <a:rPr b="0" i="0" lang="pt-BR" sz="11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haste.name = 'chimbal-haste';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50"/>
              <a:buFont typeface="Courier New"/>
              <a:buNone/>
            </a:pPr>
            <a:r>
              <a:rPr b="0" i="0" lang="pt-BR" sz="11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no.add(haste);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50"/>
              <a:buFont typeface="Courier New"/>
              <a:buNone/>
            </a:pPr>
            <a:r>
              <a:rPr b="0" i="0" lang="pt-BR" sz="11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... tubo da haste e prato de baixo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50"/>
              <a:buFont typeface="Courier New"/>
              <a:buNone/>
            </a:pPr>
            <a:r>
              <a:rPr b="0" i="0" lang="pt-BR" sz="11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haste.add(pratoDeBaixo);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50"/>
              <a:buFont typeface="Courier New"/>
              <a:buNone/>
            </a:pPr>
            <a:r>
              <a:rPr b="0" i="0" lang="pt-BR" sz="11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... prato de cima, cópia do de baixo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150"/>
              <a:buFont typeface="Courier New"/>
              <a:buNone/>
            </a:pPr>
            <a:r>
              <a:rPr b="0" i="0" lang="pt-BR" sz="11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haste.add(pratoDeCima);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172200" y="3200400"/>
            <a:ext cx="5513832" cy="914400"/>
          </a:xfrm>
          <a:prstGeom prst="roundRect">
            <a:avLst>
              <a:gd fmla="val 8000" name="adj"/>
            </a:avLst>
          </a:prstGeom>
          <a:solidFill>
            <a:srgbClr val="20242B"/>
          </a:solidFill>
          <a:ln cap="flat" cmpd="sng" w="12700">
            <a:solidFill>
              <a:srgbClr val="2024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 txBox="1"/>
          <p:nvPr/>
        </p:nvSpPr>
        <p:spPr>
          <a:xfrm>
            <a:off x="6355080" y="3273552"/>
            <a:ext cx="5166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Conferido na página: </a:t>
            </a:r>
            <a:r>
              <a:rPr b="0" i="0" lang="pt-BR" sz="13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"Subir o chimbal para 90 cm" só mexe na haste. O prato de cima, filho dela, foi de y = 0,788 m para 0,888 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6172200" y="4206240"/>
            <a:ext cx="5513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4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POR QUÊ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6172200" y="4480560"/>
            <a:ext cx="551383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Parentescos com razão de projeto: </a:t>
            </a:r>
            <a:r>
              <a:rPr b="0" i="0" lang="pt-BR" sz="11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ao regular a altura, a haste leva os dois pratos; a plataforma leva as peças fixadas e o painel.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Com coordenadas absolutas: </a:t>
            </a:r>
            <a:r>
              <a:rPr b="0" i="0" lang="pt-BR" sz="11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girar ou mover a plataforma obrigaria a recalcular à mão a posição e a rotação de cada peça fixada.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Caso nosso: </a:t>
            </a:r>
            <a:r>
              <a:rPr b="0" i="0" lang="pt-BR" sz="11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a plataforma fica sempre com escala 1 e só o piso muda de tamanho. Esticar o grupo deformaria o bumbo fixado.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150"/>
              <a:buFont typeface="Calibri"/>
              <a:buNone/>
            </a:pPr>
            <a:r>
              <a:rPr b="1" i="0" lang="pt-BR" sz="115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Descartado: </a:t>
            </a:r>
            <a:r>
              <a:rPr b="0" i="0" lang="pt-BR" sz="11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pratos como filhos diretos do chimbal. Cada ajuste teria de mover a haste e os dois pratos, três posições para manter juntas.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EEF0F2"/>
                </a:solidFill>
                <a:latin typeface="Arial"/>
                <a:ea typeface="Arial"/>
                <a:cs typeface="Arial"/>
                <a:sym typeface="Arial"/>
              </a:rPr>
              <a:t>Trocar de pai sem sair do lugar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 txBox="1"/>
          <p:nvPr/>
        </p:nvSpPr>
        <p:spPr>
          <a:xfrm>
            <a:off x="8945575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Passo 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10774375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6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502920" y="1188720"/>
            <a:ext cx="6949440" cy="2743200"/>
          </a:xfrm>
          <a:prstGeom prst="roundRect">
            <a:avLst>
              <a:gd fmla="val 2667" name="adj"/>
            </a:avLst>
          </a:prstGeom>
          <a:solidFill>
            <a:srgbClr val="1B1E24"/>
          </a:solidFill>
          <a:ln cap="flat" cmpd="sng" w="12700">
            <a:solidFill>
              <a:srgbClr val="1B1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685800" y="1298448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webxr-app/src/bateria/core/hierarquia.ts (reparentar)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685800" y="1627632"/>
            <a:ext cx="658368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... recusa se a troca criar um ciclo na árvore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filho.updateWorldMatrix(true, false);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novoPai.updateWorldMatrix(true, false);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... recusa pai com escala zero ou não uniforme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const antes: Vector3 = new Vector3().setFromMatrixPosition(filho.matrixWorld);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... guarda a rotação de antes, para o desvio de orientação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matrizLocal.copy(novoPai.matrixWorld).invert().multiply(filho.matrixWorld);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novoPai.add(filho);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matrizLocal.decompose(filho.position, filho.quaternion, filho.scale);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filho.updateWorldMatrix(true, false);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const depois: Vector3 = new Vector3().setFromMatrixPosition(filho.matrixWorld);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... rotação de depois e os dois desvios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502920" y="411480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ANTES E DEPOIS, COM A PLATAFORMA GIRADA 30°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6" name="Google Shape;156;p8"/>
          <p:cNvGraphicFramePr/>
          <p:nvPr/>
        </p:nvGraphicFramePr>
        <p:xfrm>
          <a:off x="502920" y="4434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{F795D12C-3E70-4017-8AE0-A3027F54F9FA}</a:tableStyleId>
              </a:tblPr>
              <a:tblGrid>
                <a:gridCol w="868675"/>
                <a:gridCol w="2240275"/>
                <a:gridCol w="1143000"/>
                <a:gridCol w="2697475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Bumbo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Posição no mundo (m)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Posição local (m)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antes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(1,500; 0,000; 0,000)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(1,500; 0,000; 0,000)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depois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(1,500; 0,000; 0,000)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plataforma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(1,299; 0,000; 0,750), rotação local −30°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pt-BR" sz="12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desvio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1,9e-17 m e 0 grau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200"/>
                        <a:buFont typeface="Calibri"/>
                        <a:buNone/>
                      </a:pPr>
                      <a:r>
                        <a:rPr lang="pt-BR" sz="12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ruído de arredondamento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</a:tbl>
          </a:graphicData>
        </a:graphic>
      </p:graphicFrame>
      <p:sp>
        <p:nvSpPr>
          <p:cNvPr id="157" name="Google Shape;157;p8"/>
          <p:cNvSpPr txBox="1"/>
          <p:nvPr/>
        </p:nvSpPr>
        <p:spPr>
          <a:xfrm>
            <a:off x="502920" y="5760720"/>
            <a:ext cx="6949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200"/>
              <a:buFont typeface="Calibri"/>
              <a:buNone/>
            </a:pPr>
            <a:r>
              <a:rPr b="0" i="0" lang="pt-BR" sz="12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A conta é M_local = inversa(M_novoPai) vezes M_mundo. A posição local muda, a posição no mundo não. Depois, mover a plataforma 40 cm leva o bumbo de x = 1,500 para 1,900 m; a caixa, que continua no chão, fica em 1,370 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umbo fixado na plataforma girada e movida, com a linha e o anel amarelos; a caixa continua solta no chão.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6680" y="1188720"/>
            <a:ext cx="3959352" cy="223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7726680" y="3474720"/>
            <a:ext cx="39593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100"/>
              <a:buFont typeface="Calibri"/>
              <a:buNone/>
            </a:pPr>
            <a:r>
              <a:rPr b="0" i="0" lang="pt-BR" sz="11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Linha e anel amarelos: o bumbo agora é filho da plataforma.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7726680" y="4069080"/>
            <a:ext cx="39593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4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POR QUÊ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7726680" y="4389120"/>
            <a:ext cx="3959352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Descartado: </a:t>
            </a:r>
            <a:r>
              <a:rPr b="0" i="0" lang="pt-BR" sz="12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deixar o bumbo no chão e copiar a posição da plataforma a cada quadro. Somar posição não resolve giro nem vários níveis da árvore, e soltar não teria volta.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250"/>
              <a:buFont typeface="Calibri"/>
              <a:buNone/>
            </a:pPr>
            <a:r>
              <a:rPr b="1" i="0" lang="pt-BR" sz="125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Por que não attach(): </a:t>
            </a:r>
            <a:r>
              <a:rPr b="0" i="0" lang="pt-BR" sz="12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a conta é a mesma, mas a nossa função devolve antes, depois e desvio e recusa pai com escala não uniforme.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/>
        </p:nvSpPr>
        <p:spPr>
          <a:xfrm>
            <a:off x="502920" y="32004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EEF0F2"/>
                </a:solidFill>
                <a:latin typeface="Arial"/>
                <a:ea typeface="Arial"/>
                <a:cs typeface="Arial"/>
                <a:sym typeface="Arial"/>
              </a:rPr>
              <a:t>Relógio, orçamento e o que falta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8945575" y="4114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400"/>
              <a:buFont typeface="Calibri"/>
              <a:buNone/>
            </a:pPr>
            <a:r>
              <a:rPr b="0" i="0" lang="pt-BR" sz="14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Passo 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10774375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7 /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02920" y="1188720"/>
            <a:ext cx="6035040" cy="1828800"/>
          </a:xfrm>
          <a:prstGeom prst="roundRect">
            <a:avLst>
              <a:gd fmla="val 4000" name="adj"/>
            </a:avLst>
          </a:prstGeom>
          <a:solidFill>
            <a:srgbClr val="1B1E24"/>
          </a:solidFill>
          <a:ln cap="flat" cmpd="sng" w="12700">
            <a:solidFill>
              <a:srgbClr val="1B1E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685800" y="1298448"/>
            <a:ext cx="5669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050"/>
              <a:buFont typeface="Courier New"/>
              <a:buNone/>
            </a:pPr>
            <a:r>
              <a:rPr b="0" i="0" lang="pt-BR" sz="1050" u="none" cap="none" strike="noStrike">
                <a:solidFill>
                  <a:srgbClr val="D4A444"/>
                </a:solidFill>
                <a:latin typeface="Courier New"/>
                <a:ea typeface="Courier New"/>
                <a:cs typeface="Courier New"/>
                <a:sym typeface="Courier New"/>
              </a:rPr>
              <a:t>webxr-app/src/bateria/core/relogio.ts e core/orcamento.ts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685800" y="1627632"/>
            <a:ext cx="5669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50"/>
              <a:buFont typeface="Courier New"/>
              <a:buNone/>
            </a:pPr>
            <a:r>
              <a:rPr b="0" i="0" lang="pt-BR" sz="9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const intervaloReal: number = (instanteMs - anterior) / 1000;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50"/>
              <a:buFont typeface="Courier New"/>
              <a:buNone/>
            </a:pPr>
            <a:r>
              <a:rPr b="0" i="0" lang="pt-BR" sz="9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const saltoDescartado: boolean = intervaloReal &gt; TETO_DE_SALTO_S;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50"/>
              <a:buFont typeface="Courier New"/>
              <a:buNone/>
            </a:pPr>
            <a:r>
              <a:rPr b="0" i="0" lang="pt-BR" sz="9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const delta: number = saltoDescartado ? TETO_DE_SALTO_S : intervaloReal;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50"/>
              <a:buFont typeface="Courier New"/>
              <a:buNone/>
            </a:pPr>
            <a:r>
              <a:rPr b="0" i="0" lang="pt-BR" sz="9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this.decorrido += delta;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50"/>
              <a:buFont typeface="Courier New"/>
              <a:buNone/>
            </a:pPr>
            <a:r>
              <a:rPr b="0" i="0" lang="pt-BR" sz="9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// core/orcamento.ts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50"/>
              <a:buFont typeface="Courier New"/>
              <a:buNone/>
            </a:pPr>
            <a:r>
              <a:rPr b="0" i="0" lang="pt-BR" sz="9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TETO_JANELA_MS: number = 16.7;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50"/>
              <a:buFont typeface="Courier New"/>
              <a:buNone/>
            </a:pPr>
            <a:r>
              <a:rPr b="0" i="0" lang="pt-BR" sz="9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TETO_VISOR_MS: number = 13.9;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1CF"/>
              </a:buClr>
              <a:buSzPts val="950"/>
              <a:buFont typeface="Courier New"/>
              <a:buNone/>
            </a:pPr>
            <a:r>
              <a:rPr b="0" i="0" lang="pt-BR" sz="950" u="none" cap="none" strike="noStrike">
                <a:solidFill>
                  <a:srgbClr val="E6E1CF"/>
                </a:solidFill>
                <a:latin typeface="Courier New"/>
                <a:ea typeface="Courier New"/>
                <a:cs typeface="Courier New"/>
                <a:sym typeface="Courier New"/>
              </a:rPr>
              <a:t>export const TETO_ADOTADO_MS: number = TETO_VISOR_MS;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502920" y="3246120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4A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POR QUÊ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502920" y="3566160"/>
            <a:ext cx="60350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F0F2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Se o laço contasse quadros: </a:t>
            </a:r>
            <a:r>
              <a:rPr b="0" i="0" lang="pt-BR" sz="13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no PC medido o quadro chega a cada 4,24 ms; no celular Android, a cada 16,67 ms. Contando quadros, o chimbal fecharia quase 4 vezes mais rápido no PC do que no celular. Pelo tempo, fecha 1 vez por segundo nos dois.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Teto do visor também no PC: </a:t>
            </a:r>
            <a:r>
              <a:rPr b="0" i="0" lang="pt-BR" sz="13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o mesmo endereço abre no visor, então o teto de 16,7 ms da janela fica só declarado. Comparamos o custo do nosso trabalho por quadro, não o intervalo da tela.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EF0F2"/>
              </a:buClr>
              <a:buSzPts val="1300"/>
              <a:buFont typeface="Calibri"/>
              <a:buNone/>
            </a:pPr>
            <a:r>
              <a:rPr b="1" i="0" lang="pt-BR" sz="1300" u="none" cap="none" strike="noStrike">
                <a:solidFill>
                  <a:srgbClr val="EEF0F2"/>
                </a:solidFill>
                <a:latin typeface="Calibri"/>
                <a:ea typeface="Calibri"/>
                <a:cs typeface="Calibri"/>
                <a:sym typeface="Calibri"/>
              </a:rPr>
              <a:t>Descartado: </a:t>
            </a:r>
            <a:r>
              <a:rPr b="0" i="0" lang="pt-BR" sz="130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THREE.Clock sozinho, que não limita nem registra o salto de tempo quando a aba fica escondida.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ena como abre, com o cartaz Custo do quadro preso à borda da plataforma." id="175" name="Google Shape;17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0" y="1188720"/>
            <a:ext cx="3139440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9"/>
          <p:cNvSpPr txBox="1"/>
          <p:nvPr/>
        </p:nvSpPr>
        <p:spPr>
          <a:xfrm>
            <a:off x="6766560" y="2971800"/>
            <a:ext cx="4919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O cartaz "Custo do quadro" fica preso à plataforma e é redesenhado no máximo 4 vezes por segundo. Os números do print não são a medição.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6766560" y="34290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444"/>
              </a:buClr>
              <a:buSzPts val="1100"/>
              <a:buFont typeface="Calibri"/>
              <a:buNone/>
            </a:pPr>
            <a:r>
              <a:rPr b="1" i="0" lang="pt-BR" sz="1100" u="none" cap="none" strike="noStrike">
                <a:solidFill>
                  <a:srgbClr val="D4A444"/>
                </a:solidFill>
                <a:latin typeface="Calibri"/>
                <a:ea typeface="Calibri"/>
                <a:cs typeface="Calibri"/>
                <a:sym typeface="Calibri"/>
              </a:rPr>
              <a:t>NÚMERO MEDIDO E MÁQUINA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9"/>
          <p:cNvGraphicFramePr/>
          <p:nvPr/>
        </p:nvGraphicFramePr>
        <p:xfrm>
          <a:off x="6766560" y="37216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{F795D12C-3E70-4017-8AE0-A3027F54F9FA}</a:tableStyleId>
              </a:tblPr>
              <a:tblGrid>
                <a:gridCol w="1709925"/>
                <a:gridCol w="924125"/>
                <a:gridCol w="603500"/>
                <a:gridCol w="820075"/>
                <a:gridCol w="861825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Aparelho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Custo médio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Pior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Acima do teto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4A444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D4A44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Quadro a cada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A2F38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 do Kleber, Chrome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0,10 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0,30 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de 120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4,24 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0242B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EF0F2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pt-BR" sz="1000" u="none" cap="none" strike="noStrike">
                          <a:solidFill>
                            <a:srgbClr val="EEF0F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Celular Verga - Android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1,02 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9,60 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de 120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D5D9DE"/>
                        </a:buClr>
                        <a:buSzPts val="1000"/>
                        <a:buFont typeface="Calibri"/>
                        <a:buNone/>
                      </a:pPr>
                      <a:r>
                        <a:rPr lang="pt-BR" sz="1000" u="none" cap="none" strike="noStrike">
                          <a:solidFill>
                            <a:srgbClr val="D5D9D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16,67 ms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7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2026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9"/>
          <p:cNvSpPr txBox="1"/>
          <p:nvPr/>
        </p:nvSpPr>
        <p:spPr>
          <a:xfrm>
            <a:off x="6766560" y="4663440"/>
            <a:ext cx="4919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2AD"/>
              </a:buClr>
              <a:buSzPts val="1000"/>
              <a:buFont typeface="Calibri"/>
              <a:buNone/>
            </a:pPr>
            <a:r>
              <a:rPr b="0" i="0" lang="pt-BR" sz="1000" u="none" cap="none" strike="noStrike">
                <a:solidFill>
                  <a:srgbClr val="9AA2AD"/>
                </a:solidFill>
                <a:latin typeface="Calibri"/>
                <a:ea typeface="Calibri"/>
                <a:cs typeface="Calibri"/>
                <a:sym typeface="Calibri"/>
              </a:rPr>
              <a:t>Nenhum dos dois dispositivos é o PC do laboratório, que é a referência da especificação. PC do Kleber: RTX 3080 Ti e Chrome 153. Teto de 13,9 ms, 120 quadros, cena com 25 chamadas e 1.800 triângulos; no celular, 27 e 1.880, com a linha amarela ligada.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6766560" y="5212080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504A"/>
              </a:buClr>
              <a:buSzPts val="1050"/>
              <a:buFont typeface="Calibri"/>
              <a:buNone/>
            </a:pPr>
            <a:r>
              <a:rPr b="1" i="0" lang="pt-BR" sz="1050" u="none" cap="none" strike="noStrike">
                <a:solidFill>
                  <a:srgbClr val="C0504A"/>
                </a:solidFill>
                <a:latin typeface="Calibri"/>
                <a:ea typeface="Calibri"/>
                <a:cs typeface="Calibri"/>
                <a:sym typeface="Calibri"/>
              </a:rPr>
              <a:t>Ainda não funciona, com a decisão já tomada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200"/>
              </a:spcBef>
              <a:spcAft>
                <a:spcPts val="0"/>
              </a:spcAft>
              <a:buClr>
                <a:srgbClr val="CFD4DA"/>
              </a:buClr>
              <a:buSzPts val="1050"/>
              <a:buFont typeface="Calibri"/>
              <a:buChar char="•"/>
            </a:pPr>
            <a:r>
              <a:rPr b="0" i="0" lang="pt-BR" sz="10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VR e AR não desenham a cena: vão usar local-floor e, no AR, hit-test com âncora.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200"/>
              </a:spcBef>
              <a:spcAft>
                <a:spcPts val="0"/>
              </a:spcAft>
              <a:buClr>
                <a:srgbClr val="CFD4DA"/>
              </a:buClr>
              <a:buSzPts val="1050"/>
              <a:buFont typeface="Calibri"/>
              <a:buChar char="•"/>
            </a:pPr>
            <a:r>
              <a:rPr b="0" i="0" lang="pt-BR" sz="10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Pegar, encaixar e tocar: hoje fixar só troca o pai, sem levar a peça até a plataforma.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200"/>
              </a:spcBef>
              <a:spcAft>
                <a:spcPts val="0"/>
              </a:spcAft>
              <a:buClr>
                <a:srgbClr val="CFD4DA"/>
              </a:buClr>
              <a:buSzPts val="1050"/>
              <a:buFont typeface="Calibri"/>
              <a:buChar char="•"/>
            </a:pPr>
            <a:r>
              <a:rPr b="0" i="0" lang="pt-BR" sz="10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iPhone passa do teto em 7% dos quadros: investigar o redesenho do cartaz.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200"/>
              </a:spcBef>
              <a:spcAft>
                <a:spcPts val="0"/>
              </a:spcAft>
              <a:buClr>
                <a:srgbClr val="CFD4DA"/>
              </a:buClr>
              <a:buSzPts val="1050"/>
              <a:buFont typeface="Calibri"/>
              <a:buChar char="•"/>
            </a:pPr>
            <a:r>
              <a:rPr b="0" i="0" lang="pt-BR" sz="1050" u="none" cap="none" strike="noStrike">
                <a:solidFill>
                  <a:srgbClr val="CFD4DA"/>
                </a:solidFill>
                <a:latin typeface="Calibri"/>
                <a:ea typeface="Calibri"/>
                <a:cs typeface="Calibri"/>
                <a:sym typeface="Calibri"/>
              </a:rPr>
              <a:t>Falta testar no PC do laboratório e num visor real. Medimos só a CPU.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